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7"/>
  </p:notesMasterIdLst>
  <p:sldIdLst>
    <p:sldId id="256" r:id="rId3"/>
    <p:sldId id="257" r:id="rId4"/>
    <p:sldId id="258" r:id="rId5"/>
    <p:sldId id="259" r:id="rId6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Оба датасета несбалансированы: в DermaMNIST 67% — невусы.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1C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0000" y="1800000"/>
            <a:ext cx="10440000" cy="12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 panose="020F0502020204030204"/>
              </a:rPr>
              <a:t>Классификация медицинских изображений</a:t>
            </a:r>
            <a:endParaRPr sz="44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00000" y="3240000"/>
            <a:ext cx="9720000" cy="10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0">
                <a:solidFill>
                  <a:srgbClr val="DCE6F2"/>
                </a:solidFill>
                <a:latin typeface="Calibri" panose="020F0502020204030204"/>
              </a:rPr>
              <a:t>Сравнение классических, свёрточных и transfer-learning моделей на рентгенах грудной клетки и дерматоскопических снимках (MedMNIST v2)</a:t>
            </a:r>
            <a:endParaRPr sz="2200" b="0">
              <a:solidFill>
                <a:srgbClr val="DCE6F2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00000" y="5558217"/>
            <a:ext cx="10440000" cy="5835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altLang="ru-RU" sz="1600" b="0">
                <a:solidFill>
                  <a:srgbClr val="DCE6F2"/>
                </a:solidFill>
                <a:latin typeface="Calibri" panose="020F0502020204030204"/>
              </a:rPr>
              <a:t>Dariga Abduali</a:t>
            </a:r>
            <a:r>
              <a:rPr lang="ru-RU" altLang="en-US" sz="1600" b="0">
                <a:solidFill>
                  <a:srgbClr val="DCE6F2"/>
                </a:solidFill>
                <a:latin typeface="Calibri" panose="020F0502020204030204"/>
              </a:rPr>
              <a:t>, </a:t>
            </a:r>
            <a:r>
              <a:rPr lang="en-US" altLang="en-US" sz="1600" b="0">
                <a:solidFill>
                  <a:srgbClr val="DCE6F2"/>
                </a:solidFill>
                <a:latin typeface="Calibri" panose="020F0502020204030204"/>
              </a:rPr>
              <a:t>Damir Assainov, </a:t>
            </a:r>
            <a:r>
              <a:rPr lang="en-US" altLang="ru-RU" sz="1600" b="0">
                <a:solidFill>
                  <a:srgbClr val="DCE6F2"/>
                </a:solidFill>
                <a:latin typeface="Calibri" panose="020F0502020204030204"/>
              </a:rPr>
              <a:t>Assanali Kurmangaliyev, Nurtore Onggarbay</a:t>
            </a:r>
            <a:r>
              <a:rPr sz="1600" b="0">
                <a:solidFill>
                  <a:srgbClr val="DCE6F2"/>
                </a:solidFill>
                <a:latin typeface="Calibri" panose="020F0502020204030204"/>
              </a:rPr>
              <a:t>  |  Case Study, Artificial Intelligence  |  Astana IT University  |  2026</a:t>
            </a:r>
            <a:endParaRPr sz="1600" b="0">
              <a:solidFill>
                <a:srgbClr val="DCE6F2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936000"/>
          </a:xfrm>
          <a:prstGeom prst="rect">
            <a:avLst/>
          </a:prstGeom>
          <a:solidFill>
            <a:srgbClr val="1C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44000"/>
            <a:ext cx="10800000" cy="64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 panose="020F0502020204030204"/>
              </a:rPr>
              <a:t>Постановка проблемы</a:t>
            </a:r>
            <a:endParaRPr sz="2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340000" y="6372000"/>
            <a:ext cx="72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52514E"/>
                </a:solidFill>
                <a:latin typeface="Calibri" panose="020F0502020204030204"/>
              </a:rPr>
              <a:t>2</a:t>
            </a:r>
            <a:endParaRPr sz="1100" b="0">
              <a:solidFill>
                <a:srgbClr val="52514E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8000" y="1224000"/>
            <a:ext cx="10800000" cy="5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EB6834"/>
                </a:solidFill>
              </a:rPr>
              <a:t>•  </a:t>
            </a:r>
            <a:r>
              <a:rPr sz="2200" b="0">
                <a:solidFill>
                  <a:srgbClr val="1A1A1A"/>
                </a:solidFill>
                <a:latin typeface="Calibri" panose="020F0502020204030204"/>
              </a:rPr>
              <a:t>Снимков становится больше, а </a:t>
            </a:r>
            <a:r>
              <a:rPr sz="2200" b="1">
                <a:solidFill>
                  <a:srgbClr val="1A1A1A"/>
                </a:solidFill>
                <a:latin typeface="Calibri" panose="020F0502020204030204"/>
              </a:rPr>
              <a:t>радиологов и дерматологов не хватает</a:t>
            </a:r>
            <a:r>
              <a:rPr sz="2200" b="0">
                <a:solidFill>
                  <a:srgbClr val="1A1A1A"/>
                </a:solidFill>
                <a:latin typeface="Calibri" panose="020F0502020204030204"/>
              </a:rPr>
              <a:t>: очереди, усталость, неравный доступ вне крупных городов.</a:t>
            </a:r>
            <a:endParaRPr sz="2200" b="0">
              <a:solidFill>
                <a:srgbClr val="1A1A1A"/>
              </a:solidFill>
              <a:latin typeface="Calibri" panose="020F0502020204030204"/>
            </a:endParaRP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EB6834"/>
                </a:solidFill>
              </a:rPr>
              <a:t>•  </a:t>
            </a:r>
            <a:r>
              <a:rPr sz="2200" b="1">
                <a:solidFill>
                  <a:srgbClr val="1A1A1A"/>
                </a:solidFill>
                <a:latin typeface="Calibri" panose="020F0502020204030204"/>
              </a:rPr>
              <a:t>Пневмония</a:t>
            </a:r>
            <a:r>
              <a:rPr sz="2200" b="0">
                <a:solidFill>
                  <a:srgbClr val="1A1A1A"/>
                </a:solidFill>
                <a:latin typeface="Calibri" panose="020F0502020204030204"/>
              </a:rPr>
              <a:t>: около 14% всех смертей детей до 5 лет (ВОЗ). Рентген грудной клетки — стандарт подтверждения.</a:t>
            </a:r>
            <a:endParaRPr sz="2200" b="0">
              <a:solidFill>
                <a:srgbClr val="1A1A1A"/>
              </a:solidFill>
              <a:latin typeface="Calibri" panose="020F0502020204030204"/>
            </a:endParaRP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EB6834"/>
                </a:solidFill>
              </a:rPr>
              <a:t>•  </a:t>
            </a:r>
            <a:r>
              <a:rPr sz="2200" b="1">
                <a:solidFill>
                  <a:srgbClr val="1A1A1A"/>
                </a:solidFill>
                <a:latin typeface="Calibri" panose="020F0502020204030204"/>
              </a:rPr>
              <a:t>Меланома</a:t>
            </a:r>
            <a:r>
              <a:rPr sz="2200" b="0">
                <a:solidFill>
                  <a:srgbClr val="1A1A1A"/>
                </a:solidFill>
                <a:latin typeface="Calibri" panose="020F0502020204030204"/>
              </a:rPr>
              <a:t>: излечима на ранней стадии и смертельна на поздней. Дерматоскопия требует опыта.</a:t>
            </a:r>
            <a:endParaRPr sz="2200" b="0">
              <a:solidFill>
                <a:srgbClr val="1A1A1A"/>
              </a:solidFill>
              <a:latin typeface="Calibri" panose="020F0502020204030204"/>
            </a:endParaRP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EB6834"/>
                </a:solidFill>
              </a:rPr>
              <a:t>•  </a:t>
            </a:r>
            <a:r>
              <a:rPr sz="2200" b="1">
                <a:solidFill>
                  <a:srgbClr val="1A1A1A"/>
                </a:solidFill>
                <a:latin typeface="Calibri" panose="020F0502020204030204"/>
              </a:rPr>
              <a:t>Казахстан</a:t>
            </a:r>
            <a:r>
              <a:rPr sz="2200" b="0">
                <a:solidFill>
                  <a:srgbClr val="1A1A1A"/>
                </a:solidFill>
                <a:latin typeface="Calibri" panose="020F0502020204030204"/>
              </a:rPr>
              <a:t>: большая территория и малая плотность населения, специалисты сосредоточены в Астане, Алматы и областных центрах; телемедицина создаёт канал для ИИ-поддержки.</a:t>
            </a:r>
            <a:endParaRPr sz="2200" b="0">
              <a:solidFill>
                <a:srgbClr val="1A1A1A"/>
              </a:solidFill>
              <a:latin typeface="Calibri" panose="020F0502020204030204"/>
            </a:endParaRP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EB6834"/>
                </a:solidFill>
              </a:rPr>
              <a:t>•  </a:t>
            </a:r>
            <a:r>
              <a:rPr sz="2200" b="1">
                <a:solidFill>
                  <a:srgbClr val="1A1A1A"/>
                </a:solidFill>
                <a:latin typeface="Calibri" panose="020F0502020204030204"/>
              </a:rPr>
              <a:t>Цель:</a:t>
            </a:r>
            <a:r>
              <a:rPr sz="2200" b="0">
                <a:solidFill>
                  <a:srgbClr val="1A1A1A"/>
                </a:solidFill>
                <a:latin typeface="Calibri" panose="020F0502020204030204"/>
              </a:rPr>
              <a:t> оценить, насколько надёжно современные модели решают эти задачи и где они ошибаются.</a:t>
            </a:r>
            <a:endParaRPr sz="2200" b="0">
              <a:solidFill>
                <a:srgbClr val="1A1A1A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936000"/>
          </a:xfrm>
          <a:prstGeom prst="rect">
            <a:avLst/>
          </a:prstGeom>
          <a:solidFill>
            <a:srgbClr val="1C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890" y="144000"/>
            <a:ext cx="10800000" cy="64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 panose="020F0502020204030204"/>
              </a:rPr>
              <a:t>Исследовательские вопросы</a:t>
            </a:r>
            <a:endParaRPr sz="2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340000" y="6372000"/>
            <a:ext cx="72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52514E"/>
                </a:solidFill>
                <a:latin typeface="Calibri" panose="020F0502020204030204"/>
              </a:rPr>
              <a:t>3</a:t>
            </a:r>
            <a:endParaRPr sz="1100" b="0">
              <a:solidFill>
                <a:srgbClr val="52514E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8000" y="1368000"/>
            <a:ext cx="10800000" cy="46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400">
                <a:solidFill>
                  <a:srgbClr val="EB6834"/>
                </a:solidFill>
              </a:rPr>
              <a:t>•  </a:t>
            </a:r>
            <a:r>
              <a:rPr sz="2400" b="1">
                <a:solidFill>
                  <a:srgbClr val="1A1A1A"/>
                </a:solidFill>
                <a:latin typeface="Calibri" panose="020F0502020204030204"/>
              </a:rPr>
              <a:t>RQ1.</a:t>
            </a:r>
            <a:r>
              <a:rPr sz="2400" b="0">
                <a:solidFill>
                  <a:srgbClr val="1A1A1A"/>
                </a:solidFill>
                <a:latin typeface="Calibri" panose="020F0502020204030204"/>
              </a:rPr>
              <a:t> Насколько CNN лучше классического ML-бейзлайна на пикселях?</a:t>
            </a:r>
            <a:endParaRPr sz="2400" b="0">
              <a:solidFill>
                <a:srgbClr val="1A1A1A"/>
              </a:solidFill>
              <a:latin typeface="Calibri" panose="020F0502020204030204"/>
            </a:endParaRP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EB6834"/>
                </a:solidFill>
              </a:rPr>
              <a:t>•  </a:t>
            </a:r>
            <a:r>
              <a:rPr sz="2400" b="1">
                <a:solidFill>
                  <a:srgbClr val="1A1A1A"/>
                </a:solidFill>
                <a:latin typeface="Calibri" panose="020F0502020204030204"/>
              </a:rPr>
              <a:t>RQ2.</a:t>
            </a:r>
            <a:r>
              <a:rPr sz="2400" b="0">
                <a:solidFill>
                  <a:srgbClr val="1A1A1A"/>
                </a:solidFill>
                <a:latin typeface="Calibri" panose="020F0502020204030204"/>
              </a:rPr>
              <a:t> Помогает ли ImageNet transfer learning на малых медицинских датасетах?</a:t>
            </a:r>
            <a:endParaRPr sz="2400" b="0">
              <a:solidFill>
                <a:srgbClr val="1A1A1A"/>
              </a:solidFill>
              <a:latin typeface="Calibri" panose="020F0502020204030204"/>
            </a:endParaRP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EB6834"/>
                </a:solidFill>
              </a:rPr>
              <a:t>•  </a:t>
            </a:r>
            <a:r>
              <a:rPr sz="2400" b="1">
                <a:solidFill>
                  <a:srgbClr val="1A1A1A"/>
                </a:solidFill>
                <a:latin typeface="Calibri" panose="020F0502020204030204"/>
              </a:rPr>
              <a:t>RQ3.</a:t>
            </a:r>
            <a:r>
              <a:rPr sz="2400" b="0">
                <a:solidFill>
                  <a:srgbClr val="1A1A1A"/>
                </a:solidFill>
                <a:latin typeface="Calibri" panose="020F0502020204030204"/>
              </a:rPr>
              <a:t> Как дисбаланс классов влияет на качество и какие классы самые сложные?</a:t>
            </a:r>
            <a:endParaRPr sz="2400" b="0">
              <a:solidFill>
                <a:srgbClr val="1A1A1A"/>
              </a:solidFill>
              <a:latin typeface="Calibri" panose="020F0502020204030204"/>
            </a:endParaRP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EB6834"/>
                </a:solidFill>
              </a:rPr>
              <a:t>•  </a:t>
            </a:r>
            <a:r>
              <a:rPr sz="2400" b="1">
                <a:solidFill>
                  <a:srgbClr val="1A1A1A"/>
                </a:solidFill>
                <a:latin typeface="Calibri" panose="020F0502020204030204"/>
              </a:rPr>
              <a:t>RQ4.</a:t>
            </a:r>
            <a:r>
              <a:rPr sz="2400" b="0">
                <a:solidFill>
                  <a:srgbClr val="1A1A1A"/>
                </a:solidFill>
                <a:latin typeface="Calibri" panose="020F0502020204030204"/>
              </a:rPr>
              <a:t> Откалиброваны ли вероятности и как выбирать порог решения для скрининга?</a:t>
            </a:r>
            <a:endParaRPr sz="2400" b="0">
              <a:solidFill>
                <a:srgbClr val="1A1A1A"/>
              </a:solidFill>
              <a:latin typeface="Calibri" panose="020F0502020204030204"/>
            </a:endParaRP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EB6834"/>
                </a:solidFill>
              </a:rPr>
              <a:t>•  </a:t>
            </a:r>
            <a:r>
              <a:rPr sz="2400" b="1">
                <a:solidFill>
                  <a:srgbClr val="1A1A1A"/>
                </a:solidFill>
                <a:latin typeface="Calibri" panose="020F0502020204030204"/>
              </a:rPr>
              <a:t>RQ5.</a:t>
            </a:r>
            <a:r>
              <a:rPr sz="2400" b="0">
                <a:solidFill>
                  <a:srgbClr val="1A1A1A"/>
                </a:solidFill>
                <a:latin typeface="Calibri" panose="020F0502020204030204"/>
              </a:rPr>
              <a:t> На какие области изображения смотрит модель и чем это грозит при внедрении?</a:t>
            </a:r>
            <a:endParaRPr sz="2400" b="0">
              <a:solidFill>
                <a:srgbClr val="1A1A1A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936000"/>
          </a:xfrm>
          <a:prstGeom prst="rect">
            <a:avLst/>
          </a:prstGeom>
          <a:solidFill>
            <a:srgbClr val="1C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44000"/>
            <a:ext cx="10800000" cy="64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 panose="020F0502020204030204"/>
              </a:rPr>
              <a:t>Данные: MedMNIST v2 (64×64, официальные сплиты)</a:t>
            </a:r>
            <a:endParaRPr sz="2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340000" y="6372000"/>
            <a:ext cx="72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52514E"/>
                </a:solidFill>
                <a:latin typeface="Calibri" panose="020F0502020204030204"/>
              </a:rPr>
              <a:t>4</a:t>
            </a:r>
            <a:endParaRPr sz="1100" b="0">
              <a:solidFill>
                <a:srgbClr val="52514E"/>
              </a:solidFill>
              <a:latin typeface="Calibri" panose="020F0502020204030204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0000" y="1152000"/>
          <a:ext cx="10980000" cy="140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000"/>
                <a:gridCol w="3600000"/>
                <a:gridCol w="1620000"/>
                <a:gridCol w="3060000"/>
              </a:tblGrid>
              <a:tr h="468000">
                <a:tc>
                  <a:txBody>
                    <a:bodyPr/>
                    <a:lstStyle/>
                    <a:p>
                      <a:pPr algn="l"/>
                      <a:r>
                        <a:rPr sz="17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Датасет</a:t>
                      </a:r>
                      <a:endParaRPr sz="170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1C3D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Модальность</a:t>
                      </a:r>
                      <a:endParaRPr sz="170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1C3D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Задача</a:t>
                      </a:r>
                      <a:endParaRPr sz="170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1C3D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Train / Val / Test</a:t>
                      </a:r>
                      <a:endParaRPr sz="170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1C3D6B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PneumoniaMNIST</a:t>
                      </a:r>
                      <a:endParaRPr sz="17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Рентген грудной клетки у детей</a:t>
                      </a:r>
                      <a:endParaRPr sz="17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2 класса</a:t>
                      </a:r>
                      <a:endParaRPr sz="17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4708 / 524 / 624</a:t>
                      </a:r>
                      <a:endParaRPr sz="17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1F4F9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DermaMNIST (HAM10000)</a:t>
                      </a:r>
                      <a:endParaRPr sz="17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Дерматоскопия</a:t>
                      </a:r>
                      <a:endParaRPr sz="17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7 классов</a:t>
                      </a:r>
                      <a:endParaRPr sz="17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7007 / 1003 / 2005</a:t>
                      </a:r>
                      <a:endParaRPr sz="17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6" name="Picture 5" descr="class_distributio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8890" y="2700000"/>
            <a:ext cx="9360000" cy="291605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936000"/>
          </a:xfrm>
          <a:prstGeom prst="rect">
            <a:avLst/>
          </a:prstGeom>
          <a:solidFill>
            <a:srgbClr val="1C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44000"/>
            <a:ext cx="10800000" cy="64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 panose="020F0502020204030204"/>
              </a:rPr>
              <a:t>Примеры изображений</a:t>
            </a:r>
            <a:endParaRPr sz="2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340000" y="6372000"/>
            <a:ext cx="72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52514E"/>
                </a:solidFill>
                <a:latin typeface="Calibri" panose="020F0502020204030204"/>
              </a:rPr>
              <a:t>5</a:t>
            </a:r>
            <a:endParaRPr sz="1100" b="0">
              <a:solidFill>
                <a:srgbClr val="52514E"/>
              </a:solidFill>
              <a:latin typeface="Calibri" panose="020F0502020204030204"/>
            </a:endParaRPr>
          </a:p>
        </p:txBody>
      </p:sp>
      <p:pic>
        <p:nvPicPr>
          <p:cNvPr id="5" name="Picture 4" descr="samples_pneumoniamnis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000" y="1620000"/>
            <a:ext cx="5580000" cy="1795028"/>
          </a:xfrm>
          <a:prstGeom prst="rect">
            <a:avLst/>
          </a:prstGeom>
        </p:spPr>
      </p:pic>
      <p:pic>
        <p:nvPicPr>
          <p:cNvPr id="6" name="Picture 5" descr="samples_dermamn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0000" y="1152000"/>
            <a:ext cx="4300469" cy="522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0000" y="3420000"/>
            <a:ext cx="5580000" cy="43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52514E"/>
                </a:solidFill>
                <a:latin typeface="Calibri" panose="020F0502020204030204"/>
              </a:rPr>
              <a:t>PneumoniaMNIST: норма / пневмония</a:t>
            </a:r>
            <a:endParaRPr sz="1500" b="0">
              <a:solidFill>
                <a:srgbClr val="52514E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936000"/>
          </a:xfrm>
          <a:prstGeom prst="rect">
            <a:avLst/>
          </a:prstGeom>
          <a:solidFill>
            <a:srgbClr val="1C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44000"/>
            <a:ext cx="10800000" cy="64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 panose="020F0502020204030204"/>
              </a:rPr>
              <a:t>Методология: три модели, единый протокол</a:t>
            </a:r>
            <a:endParaRPr sz="2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340000" y="6372000"/>
            <a:ext cx="72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52514E"/>
                </a:solidFill>
                <a:latin typeface="Calibri" panose="020F0502020204030204"/>
              </a:rPr>
              <a:t>6</a:t>
            </a:r>
            <a:endParaRPr sz="1100" b="0">
              <a:solidFill>
                <a:srgbClr val="52514E"/>
              </a:solidFill>
              <a:latin typeface="Calibri" panose="020F0502020204030204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0000" y="1152000"/>
          <a:ext cx="10980000" cy="18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/>
                <a:gridCol w="9000000"/>
              </a:tblGrid>
              <a:tr h="4680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Модель</a:t>
                      </a:r>
                      <a:endParaRPr sz="160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1C3D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Описание</a:t>
                      </a:r>
                      <a:endParaRPr sz="160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1C3D6B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PCA + LogReg</a:t>
                      </a:r>
                      <a:endParaRPr sz="16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Стандартизованные пиксели → PCA (200 комп.) → логистическая регрессия</a:t>
                      </a:r>
                      <a:endParaRPr sz="16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1F4F9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Simple CNN</a:t>
                      </a:r>
                      <a:endParaRPr sz="16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4 свёрточных блока (32-64-128-256), GAP, dropout; обучена с нуля (1,2 М парам.)</a:t>
                      </a:r>
                      <a:endParaRPr sz="16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ResNet-18 (TL)</a:t>
                      </a:r>
                      <a:endParaRPr sz="1600" b="1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Претрейн на ImageNet, дообучение всех слоёв; вход 128 px (11,2 М парам.)</a:t>
                      </a:r>
                      <a:endParaRPr sz="1600" b="1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1F4F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8000" y="3240000"/>
            <a:ext cx="10800000" cy="3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EB6834"/>
                </a:solidFill>
              </a:rPr>
              <a:t>•  </a:t>
            </a:r>
            <a:r>
              <a:rPr sz="1900" b="0">
                <a:solidFill>
                  <a:srgbClr val="1A1A1A"/>
                </a:solidFill>
                <a:latin typeface="Calibri" panose="020F0502020204030204"/>
              </a:rPr>
              <a:t>Loss: cross-entropy + label smoothing 0,05 + веса классов 1/√частоты. AdamW, one-cycle LR, AMP.</a:t>
            </a:r>
            <a:endParaRPr sz="1900" b="0">
              <a:solidFill>
                <a:srgbClr val="1A1A1A"/>
              </a:solidFill>
              <a:latin typeface="Calibri" panose="020F0502020204030204"/>
            </a:endParaRP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EB6834"/>
                </a:solidFill>
              </a:rPr>
              <a:t>•  </a:t>
            </a:r>
            <a:r>
              <a:rPr sz="1900" b="0">
                <a:solidFill>
                  <a:srgbClr val="1A1A1A"/>
                </a:solidFill>
                <a:latin typeface="Calibri" panose="020F0502020204030204"/>
              </a:rPr>
              <a:t>Выбор чекпоинта по </a:t>
            </a:r>
            <a:r>
              <a:rPr sz="1900" b="1">
                <a:solidFill>
                  <a:srgbClr val="1A1A1A"/>
                </a:solidFill>
                <a:latin typeface="Calibri" panose="020F0502020204030204"/>
              </a:rPr>
              <a:t>val AUC</a:t>
            </a:r>
            <a:r>
              <a:rPr sz="1900" b="0">
                <a:solidFill>
                  <a:srgbClr val="1A1A1A"/>
                </a:solidFill>
                <a:latin typeface="Calibri" panose="020F0502020204030204"/>
              </a:rPr>
              <a:t>, тест используется один раз. Seed 42, GPU NVIDIA H200.</a:t>
            </a:r>
            <a:endParaRPr sz="1900" b="0">
              <a:solidFill>
                <a:srgbClr val="1A1A1A"/>
              </a:solidFill>
              <a:latin typeface="Calibri" panose="020F0502020204030204"/>
            </a:endParaRP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EB6834"/>
                </a:solidFill>
              </a:rPr>
              <a:t>•  </a:t>
            </a:r>
            <a:r>
              <a:rPr sz="1900" b="0">
                <a:solidFill>
                  <a:srgbClr val="1A1A1A"/>
                </a:solidFill>
                <a:latin typeface="Calibri" panose="020F0502020204030204"/>
              </a:rPr>
              <a:t>Аугментация: аффинные сдвиги, яркость/контраст; флипы только для кожи (у рентгена нельзя).</a:t>
            </a:r>
            <a:endParaRPr sz="1900" b="0">
              <a:solidFill>
                <a:srgbClr val="1A1A1A"/>
              </a:solidFill>
              <a:latin typeface="Calibri" panose="020F0502020204030204"/>
            </a:endParaRP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EB6834"/>
                </a:solidFill>
              </a:rPr>
              <a:t>•  </a:t>
            </a:r>
            <a:r>
              <a:rPr sz="1900" b="0">
                <a:solidFill>
                  <a:srgbClr val="1A1A1A"/>
                </a:solidFill>
                <a:latin typeface="Calibri" panose="020F0502020204030204"/>
              </a:rPr>
              <a:t>Метрики: AUC + 95% bootstrap CI, balanced accuracy, sens/spec, ECE, Grad-CAM.</a:t>
            </a:r>
            <a:endParaRPr sz="1900" b="0">
              <a:solidFill>
                <a:srgbClr val="1A1A1A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936000"/>
          </a:xfrm>
          <a:prstGeom prst="rect">
            <a:avLst/>
          </a:prstGeom>
          <a:solidFill>
            <a:srgbClr val="1C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44000"/>
            <a:ext cx="10800000" cy="64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 panose="020F0502020204030204"/>
              </a:rPr>
              <a:t>Результат 1: ResNet-18 лучше на обеих задачах</a:t>
            </a:r>
            <a:endParaRPr sz="2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340000" y="6372000"/>
            <a:ext cx="72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52514E"/>
                </a:solidFill>
                <a:latin typeface="Calibri" panose="020F0502020204030204"/>
              </a:rPr>
              <a:t>7</a:t>
            </a:r>
            <a:endParaRPr sz="1100" b="0">
              <a:solidFill>
                <a:srgbClr val="52514E"/>
              </a:solidFill>
              <a:latin typeface="Calibri" panose="020F0502020204030204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32000" y="1152000"/>
          <a:ext cx="6119999" cy="327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2000"/>
                <a:gridCol w="1655999"/>
                <a:gridCol w="756000"/>
                <a:gridCol w="756000"/>
                <a:gridCol w="720000"/>
              </a:tblGrid>
              <a:tr h="4680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Датасет: модель</a:t>
                      </a:r>
                      <a:endParaRPr sz="120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1C3D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AUC [95% CI]</a:t>
                      </a:r>
                      <a:endParaRPr sz="120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1C3D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Accuracy</a:t>
                      </a:r>
                      <a:endParaRPr sz="120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1C3D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Bal. acc.</a:t>
                      </a:r>
                      <a:endParaRPr sz="120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1C3D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ECE</a:t>
                      </a:r>
                      <a:endParaRPr sz="120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1C3D6B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Pneumonia: PCA + LogReg</a:t>
                      </a:r>
                      <a:endParaRPr sz="12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0.918 [0.890–0.943]</a:t>
                      </a:r>
                      <a:endParaRPr sz="12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0.877</a:t>
                      </a:r>
                      <a:endParaRPr sz="12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0.844</a:t>
                      </a:r>
                      <a:endParaRPr sz="12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0.095</a:t>
                      </a:r>
                      <a:endParaRPr sz="12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1F4F9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Pneumonia: Simple CNN</a:t>
                      </a:r>
                      <a:endParaRPr sz="12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0.979 [0.964–0.992]</a:t>
                      </a:r>
                      <a:endParaRPr sz="12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0.947</a:t>
                      </a:r>
                      <a:endParaRPr sz="12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0.931</a:t>
                      </a:r>
                      <a:endParaRPr sz="12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0.020</a:t>
                      </a:r>
                      <a:endParaRPr sz="12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Pneumonia: ResNet-18 (TL)</a:t>
                      </a:r>
                      <a:endParaRPr sz="12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0.990 [0.984–0.996]</a:t>
                      </a:r>
                      <a:endParaRPr sz="12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0.955</a:t>
                      </a:r>
                      <a:endParaRPr sz="12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0.943</a:t>
                      </a:r>
                      <a:endParaRPr sz="12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0.015</a:t>
                      </a:r>
                      <a:endParaRPr sz="12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1F4F9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Derma: PCA + LogReg</a:t>
                      </a:r>
                      <a:endParaRPr sz="12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0.817 [0.798–0.836]</a:t>
                      </a:r>
                      <a:endParaRPr sz="12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0.526</a:t>
                      </a:r>
                      <a:endParaRPr sz="12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0.442</a:t>
                      </a:r>
                      <a:endParaRPr sz="12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0.148</a:t>
                      </a:r>
                      <a:endParaRPr sz="12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Derma: Simple CNN</a:t>
                      </a:r>
                      <a:endParaRPr sz="12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0.948 [0.940–0.955]</a:t>
                      </a:r>
                      <a:endParaRPr sz="12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0.755</a:t>
                      </a:r>
                      <a:endParaRPr sz="12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0.670</a:t>
                      </a:r>
                      <a:endParaRPr sz="12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0.086</a:t>
                      </a:r>
                      <a:endParaRPr sz="12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1F4F9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Derma: ResNet-18 (TL)</a:t>
                      </a:r>
                      <a:endParaRPr sz="1200" b="1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0.958 [0.947–0.968]</a:t>
                      </a:r>
                      <a:endParaRPr sz="1200" b="1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0.838</a:t>
                      </a:r>
                      <a:endParaRPr sz="1200" b="1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0.767</a:t>
                      </a:r>
                      <a:endParaRPr sz="1200" b="1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0.075</a:t>
                      </a:r>
                      <a:endParaRPr sz="1200" b="1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6" name="Picture 5" descr="model_compariso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8000" y="1440000"/>
            <a:ext cx="5148000" cy="19739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32000" y="5112000"/>
            <a:ext cx="11160000" cy="9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1C3D6B"/>
                </a:solidFill>
                <a:latin typeface="Calibri" panose="020F0502020204030204"/>
              </a:rPr>
              <a:t>CNN vs базовая модель: ΔAUC = +0.14 на DermaMNIST. Transfer learning: balanced accuracy 67.0% → 76.7%.</a:t>
            </a:r>
            <a:endParaRPr sz="1800" b="1">
              <a:solidFill>
                <a:srgbClr val="1C3D6B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936000"/>
          </a:xfrm>
          <a:prstGeom prst="rect">
            <a:avLst/>
          </a:prstGeom>
          <a:solidFill>
            <a:srgbClr val="1C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44000"/>
            <a:ext cx="10800000" cy="64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 panose="020F0502020204030204"/>
              </a:rPr>
              <a:t>Результат 2: пневмония, отличный скрининг</a:t>
            </a:r>
            <a:endParaRPr sz="2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340000" y="6372000"/>
            <a:ext cx="72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52514E"/>
                </a:solidFill>
                <a:latin typeface="Calibri" panose="020F0502020204030204"/>
              </a:rPr>
              <a:t>8</a:t>
            </a:r>
            <a:endParaRPr sz="1100" b="0">
              <a:solidFill>
                <a:srgbClr val="52514E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890" y="1224000"/>
            <a:ext cx="5580000" cy="5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EB6834"/>
                </a:solidFill>
              </a:rPr>
              <a:t>•  </a:t>
            </a:r>
            <a:r>
              <a:rPr sz="1800" b="0">
                <a:solidFill>
                  <a:srgbClr val="1A1A1A"/>
                </a:solidFill>
                <a:latin typeface="Calibri" panose="020F0502020204030204"/>
              </a:rPr>
              <a:t>AUC </a:t>
            </a:r>
            <a:r>
              <a:rPr sz="1800" b="1">
                <a:solidFill>
                  <a:srgbClr val="1A1A1A"/>
                </a:solidFill>
                <a:latin typeface="Calibri" panose="020F0502020204030204"/>
              </a:rPr>
              <a:t>0.990</a:t>
            </a:r>
            <a:r>
              <a:rPr sz="1800" b="0">
                <a:solidFill>
                  <a:srgbClr val="1A1A1A"/>
                </a:solidFill>
                <a:latin typeface="Calibri" panose="020F0502020204030204"/>
              </a:rPr>
              <a:t>, sensitivity </a:t>
            </a:r>
            <a:r>
              <a:rPr sz="1800" b="1">
                <a:solidFill>
                  <a:srgbClr val="1A1A1A"/>
                </a:solidFill>
                <a:latin typeface="Calibri" panose="020F0502020204030204"/>
              </a:rPr>
              <a:t>99.2%</a:t>
            </a:r>
            <a:r>
              <a:rPr sz="1800" b="0">
                <a:solidFill>
                  <a:srgbClr val="1A1A1A"/>
                </a:solidFill>
                <a:latin typeface="Calibri" panose="020F0502020204030204"/>
              </a:rPr>
              <a:t>, NPV 98.6%: пропущено только 3 из 390 случаев.</a:t>
            </a:r>
            <a:endParaRPr sz="1800" b="0">
              <a:solidFill>
                <a:srgbClr val="1A1A1A"/>
              </a:solidFill>
              <a:latin typeface="Calibri" panose="020F0502020204030204"/>
            </a:endParaRP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EB6834"/>
                </a:solidFill>
              </a:rPr>
              <a:t>•  </a:t>
            </a:r>
            <a:r>
              <a:rPr sz="1800" b="0">
                <a:solidFill>
                  <a:srgbClr val="1A1A1A"/>
                </a:solidFill>
                <a:latin typeface="Calibri" panose="020F0502020204030204"/>
              </a:rPr>
              <a:t>Specificity 89.3%: 25 ложных тревог из 234 здоровых. Для скрининга асимметрия правильная.</a:t>
            </a:r>
            <a:endParaRPr sz="1800" b="0">
              <a:solidFill>
                <a:srgbClr val="1A1A1A"/>
              </a:solidFill>
              <a:latin typeface="Calibri" panose="020F0502020204030204"/>
            </a:endParaRP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EB6834"/>
                </a:solidFill>
              </a:rPr>
              <a:t>•  </a:t>
            </a:r>
            <a:r>
              <a:rPr sz="1800" b="0">
                <a:solidFill>
                  <a:srgbClr val="1A1A1A"/>
                </a:solidFill>
                <a:latin typeface="Calibri" panose="020F0502020204030204"/>
              </a:rPr>
              <a:t>Порог, подобранный на val (0.14), </a:t>
            </a:r>
            <a:r>
              <a:rPr sz="1800" b="1">
                <a:solidFill>
                  <a:srgbClr val="1A1A1A"/>
                </a:solidFill>
                <a:latin typeface="Calibri" panose="020F0502020204030204"/>
              </a:rPr>
              <a:t>не перенёсся</a:t>
            </a:r>
            <a:r>
              <a:rPr sz="1800" b="0">
                <a:solidFill>
                  <a:srgbClr val="1A1A1A"/>
                </a:solidFill>
                <a:latin typeface="Calibri" panose="020F0502020204030204"/>
              </a:rPr>
              <a:t> на тест: specificity 89.3% → 81.6%.</a:t>
            </a:r>
            <a:endParaRPr sz="1800" b="0">
              <a:solidFill>
                <a:srgbClr val="1A1A1A"/>
              </a:solidFill>
              <a:latin typeface="Calibri" panose="020F0502020204030204"/>
            </a:endParaRP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EB6834"/>
                </a:solidFill>
              </a:rPr>
              <a:t>•  </a:t>
            </a:r>
            <a:r>
              <a:rPr sz="1800" b="0">
                <a:solidFill>
                  <a:srgbClr val="1A1A1A"/>
                </a:solidFill>
                <a:latin typeface="Calibri" panose="020F0502020204030204"/>
              </a:rPr>
              <a:t>Причина: сдвиг распределения между val и test. Порог нужно выбирать на данных целевой клиники.</a:t>
            </a:r>
            <a:endParaRPr sz="1800" b="0">
              <a:solidFill>
                <a:srgbClr val="1A1A1A"/>
              </a:solidFill>
              <a:latin typeface="Calibri" panose="020F0502020204030204"/>
            </a:endParaRPr>
          </a:p>
        </p:txBody>
      </p:sp>
      <p:pic>
        <p:nvPicPr>
          <p:cNvPr id="6" name="Picture 5" descr="roc_pneumoniamnis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0000" y="1152000"/>
            <a:ext cx="2808000" cy="2578483"/>
          </a:xfrm>
          <a:prstGeom prst="rect">
            <a:avLst/>
          </a:prstGeom>
        </p:spPr>
      </p:pic>
      <p:pic>
        <p:nvPicPr>
          <p:cNvPr id="7" name="Picture 6" descr="confusion_pneumoniamnist_resnet-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0000" y="1224000"/>
            <a:ext cx="2808000" cy="2525835"/>
          </a:xfrm>
          <a:prstGeom prst="rect">
            <a:avLst/>
          </a:prstGeom>
        </p:spPr>
      </p:pic>
      <p:pic>
        <p:nvPicPr>
          <p:cNvPr id="8" name="Picture 7" descr="threshold_pneumoniamn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0000" y="3671999"/>
            <a:ext cx="4680000" cy="291940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936000"/>
          </a:xfrm>
          <a:prstGeom prst="rect">
            <a:avLst/>
          </a:prstGeom>
          <a:solidFill>
            <a:srgbClr val="1C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44000"/>
            <a:ext cx="10800000" cy="64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 panose="020F0502020204030204"/>
              </a:rPr>
              <a:t>Результат 3: дерматоскопия, дисбаланс классов</a:t>
            </a:r>
            <a:endParaRPr sz="2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340000" y="6372000"/>
            <a:ext cx="72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52514E"/>
                </a:solidFill>
                <a:latin typeface="Calibri" panose="020F0502020204030204"/>
              </a:rPr>
              <a:t>9</a:t>
            </a:r>
            <a:endParaRPr sz="1100" b="0">
              <a:solidFill>
                <a:srgbClr val="52514E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0000" y="1224000"/>
            <a:ext cx="5760000" cy="5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EB6834"/>
                </a:solidFill>
              </a:rPr>
              <a:t>•  </a:t>
            </a:r>
            <a:r>
              <a:rPr sz="1900" b="0">
                <a:solidFill>
                  <a:srgbClr val="1A1A1A"/>
                </a:solidFill>
                <a:latin typeface="Calibri" panose="020F0502020204030204"/>
              </a:rPr>
              <a:t>Macro AUC </a:t>
            </a:r>
            <a:r>
              <a:rPr sz="1900" b="1">
                <a:solidFill>
                  <a:srgbClr val="1A1A1A"/>
                </a:solidFill>
                <a:latin typeface="Calibri" panose="020F0502020204030204"/>
              </a:rPr>
              <a:t>0.958</a:t>
            </a:r>
            <a:r>
              <a:rPr sz="1900" b="0">
                <a:solidFill>
                  <a:srgbClr val="1A1A1A"/>
                </a:solidFill>
                <a:latin typeface="Calibri" panose="020F0502020204030204"/>
              </a:rPr>
              <a:t>, accuracy 83.8%, но balanced accuracy только </a:t>
            </a:r>
            <a:r>
              <a:rPr sz="1900" b="1">
                <a:solidFill>
                  <a:srgbClr val="1A1A1A"/>
                </a:solidFill>
                <a:latin typeface="Calibri" panose="020F0502020204030204"/>
              </a:rPr>
              <a:t>76.7%</a:t>
            </a:r>
            <a:r>
              <a:rPr sz="1900" b="0">
                <a:solidFill>
                  <a:srgbClr val="1A1A1A"/>
                </a:solidFill>
                <a:latin typeface="Calibri" panose="020F0502020204030204"/>
              </a:rPr>
              <a:t>.</a:t>
            </a:r>
            <a:endParaRPr sz="1900" b="0">
              <a:solidFill>
                <a:srgbClr val="1A1A1A"/>
              </a:solidFill>
              <a:latin typeface="Calibri" panose="020F0502020204030204"/>
            </a:endParaRP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EB6834"/>
                </a:solidFill>
              </a:rPr>
              <a:t>•  </a:t>
            </a:r>
            <a:r>
              <a:rPr sz="1900" b="0">
                <a:solidFill>
                  <a:srgbClr val="1A1A1A"/>
                </a:solidFill>
                <a:latin typeface="Calibri" panose="020F0502020204030204"/>
              </a:rPr>
              <a:t>Злокачественные (AKIEC+BCC+MEL) vs доброкачественные: AUC 0.942, sensitivity </a:t>
            </a:r>
            <a:r>
              <a:rPr sz="1900" b="1">
                <a:solidFill>
                  <a:srgbClr val="1A1A1A"/>
                </a:solidFill>
                <a:latin typeface="Calibri" panose="020F0502020204030204"/>
              </a:rPr>
              <a:t>77.8%</a:t>
            </a:r>
            <a:r>
              <a:rPr sz="1900" b="0">
                <a:solidFill>
                  <a:srgbClr val="1A1A1A"/>
                </a:solidFill>
                <a:latin typeface="Calibri" panose="020F0502020204030204"/>
              </a:rPr>
              <a:t>.</a:t>
            </a:r>
            <a:endParaRPr sz="1900" b="0">
              <a:solidFill>
                <a:srgbClr val="1A1A1A"/>
              </a:solidFill>
              <a:latin typeface="Calibri" panose="020F0502020204030204"/>
            </a:endParaRP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EB6834"/>
                </a:solidFill>
              </a:rPr>
              <a:t>•  </a:t>
            </a:r>
            <a:r>
              <a:rPr sz="1900" b="1">
                <a:solidFill>
                  <a:srgbClr val="1A1A1A"/>
                </a:solidFill>
                <a:latin typeface="Calibri" panose="020F0502020204030204"/>
              </a:rPr>
              <a:t>47 из 223 меланом (21%)</a:t>
            </a:r>
            <a:r>
              <a:rPr sz="1900" b="0">
                <a:solidFill>
                  <a:srgbClr val="1A1A1A"/>
                </a:solidFill>
                <a:latin typeface="Calibri" panose="020F0502020204030204"/>
              </a:rPr>
              <a:t> классифицированы как безвредные невусы.</a:t>
            </a:r>
            <a:endParaRPr sz="1900" b="0">
              <a:solidFill>
                <a:srgbClr val="1A1A1A"/>
              </a:solidFill>
              <a:latin typeface="Calibri" panose="020F0502020204030204"/>
            </a:endParaRP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EB6834"/>
                </a:solidFill>
              </a:rPr>
              <a:t>•  </a:t>
            </a:r>
            <a:r>
              <a:rPr sz="1900" b="0">
                <a:solidFill>
                  <a:srgbClr val="1A1A1A"/>
                </a:solidFill>
                <a:latin typeface="Calibri" panose="020F0502020204030204"/>
              </a:rPr>
              <a:t>Recall падает с редкостью класса; исключение: VASC (характерный цвет).</a:t>
            </a:r>
            <a:endParaRPr sz="1900" b="0">
              <a:solidFill>
                <a:srgbClr val="1A1A1A"/>
              </a:solidFill>
              <a:latin typeface="Calibri" panose="020F0502020204030204"/>
            </a:endParaRPr>
          </a:p>
        </p:txBody>
      </p:sp>
      <p:pic>
        <p:nvPicPr>
          <p:cNvPr id="6" name="Picture 5" descr="confusion_dermamnist_resnet-18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80000" y="1152000"/>
            <a:ext cx="5342824" cy="5220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936000"/>
          </a:xfrm>
          <a:prstGeom prst="rect">
            <a:avLst/>
          </a:prstGeom>
          <a:solidFill>
            <a:srgbClr val="1C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44000"/>
            <a:ext cx="10800000" cy="64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 panose="020F0502020204030204"/>
              </a:rPr>
              <a:t>Динамика обучения и калибровка</a:t>
            </a:r>
            <a:endParaRPr sz="2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340000" y="6372000"/>
            <a:ext cx="72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52514E"/>
                </a:solidFill>
                <a:latin typeface="Calibri" panose="020F0502020204030204"/>
              </a:rPr>
              <a:t>10</a:t>
            </a:r>
            <a:endParaRPr sz="1100" b="0">
              <a:solidFill>
                <a:srgbClr val="52514E"/>
              </a:solidFill>
              <a:latin typeface="Calibri" panose="020F0502020204030204"/>
            </a:endParaRPr>
          </a:p>
        </p:txBody>
      </p:sp>
      <p:pic>
        <p:nvPicPr>
          <p:cNvPr id="5" name="Picture 4" descr="training_dermamnis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8000" y="1224000"/>
            <a:ext cx="6480000" cy="2337385"/>
          </a:xfrm>
          <a:prstGeom prst="rect">
            <a:avLst/>
          </a:prstGeom>
        </p:spPr>
      </p:pic>
      <p:pic>
        <p:nvPicPr>
          <p:cNvPr id="6" name="Picture 5" descr="calibration_dermamn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0000" y="1152000"/>
            <a:ext cx="4320000" cy="396689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0000" y="4031999"/>
            <a:ext cx="648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EB6834"/>
                </a:solidFill>
              </a:rPr>
              <a:t>•  </a:t>
            </a:r>
            <a:r>
              <a:rPr sz="1700" b="0">
                <a:solidFill>
                  <a:srgbClr val="1A1A1A"/>
                </a:solidFill>
                <a:latin typeface="Calibri" panose="020F0502020204030204"/>
              </a:rPr>
              <a:t>ResNet-18 сходится за ~12 эпох, CNN с нуля — за ~24.</a:t>
            </a:r>
            <a:endParaRPr sz="1700" b="0">
              <a:solidFill>
                <a:srgbClr val="1A1A1A"/>
              </a:solidFill>
              <a:latin typeface="Calibri" panose="020F0502020204030204"/>
            </a:endParaRP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EB6834"/>
                </a:solidFill>
              </a:rPr>
              <a:t>•  </a:t>
            </a:r>
            <a:r>
              <a:rPr sz="1700" b="0">
                <a:solidFill>
                  <a:srgbClr val="1A1A1A"/>
                </a:solidFill>
                <a:latin typeface="Calibri" panose="020F0502020204030204"/>
              </a:rPr>
              <a:t>ECE ≤ 0,09: модели скорее </a:t>
            </a:r>
            <a:r>
              <a:rPr sz="1700" b="1">
                <a:solidFill>
                  <a:srgbClr val="1A1A1A"/>
                </a:solidFill>
                <a:latin typeface="Calibri" panose="020F0502020204030204"/>
              </a:rPr>
              <a:t>недоуверены</a:t>
            </a:r>
            <a:r>
              <a:rPr sz="1700" b="0">
                <a:solidFill>
                  <a:srgbClr val="1A1A1A"/>
                </a:solidFill>
                <a:latin typeface="Calibri" panose="020F0502020204030204"/>
              </a:rPr>
              <a:t> (label smoothing и веса классов), а не переуверены. Лечится temperature scaling.</a:t>
            </a:r>
            <a:endParaRPr sz="1700" b="0">
              <a:solidFill>
                <a:srgbClr val="1A1A1A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936000"/>
          </a:xfrm>
          <a:prstGeom prst="rect">
            <a:avLst/>
          </a:prstGeom>
          <a:solidFill>
            <a:srgbClr val="1C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44000"/>
            <a:ext cx="10800000" cy="64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 panose="020F0502020204030204"/>
              </a:rPr>
              <a:t>Объяснимость (Grad-CAM): тревожные сигналы</a:t>
            </a:r>
            <a:endParaRPr sz="2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340000" y="6372000"/>
            <a:ext cx="72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52514E"/>
                </a:solidFill>
                <a:latin typeface="Calibri" panose="020F0502020204030204"/>
              </a:rPr>
              <a:t>11</a:t>
            </a:r>
            <a:endParaRPr sz="1100" b="0">
              <a:solidFill>
                <a:srgbClr val="52514E"/>
              </a:solidFill>
              <a:latin typeface="Calibri" panose="020F0502020204030204"/>
            </a:endParaRPr>
          </a:p>
        </p:txBody>
      </p:sp>
      <p:pic>
        <p:nvPicPr>
          <p:cNvPr id="5" name="Picture 4" descr="gradcam_pneumoniamnis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8000" y="1152000"/>
            <a:ext cx="6137242" cy="4392000"/>
          </a:xfrm>
          <a:prstGeom prst="rect">
            <a:avLst/>
          </a:prstGeom>
        </p:spPr>
      </p:pic>
      <p:pic>
        <p:nvPicPr>
          <p:cNvPr id="6" name="Picture 5" descr="gradcam_dermamn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0000" y="1152000"/>
            <a:ext cx="6137242" cy="439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0000" y="5580000"/>
            <a:ext cx="11160000" cy="864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C3D6B"/>
                </a:solidFill>
                <a:latin typeface="Calibri" panose="020F0502020204030204"/>
              </a:rPr>
              <a:t>Рентген: внимание часто на сердце и средостении, а не на лёгких. Кожа: у части меланом и невусов акцент на краю кадра, а не на очаге. Это признаки shortcut learning, нужна внешняя валидация.</a:t>
            </a:r>
            <a:endParaRPr sz="1700" b="1">
              <a:solidFill>
                <a:srgbClr val="1C3D6B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936000"/>
          </a:xfrm>
          <a:prstGeom prst="rect">
            <a:avLst/>
          </a:prstGeom>
          <a:solidFill>
            <a:srgbClr val="1C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44000"/>
            <a:ext cx="10800000" cy="64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 panose="020F0502020204030204"/>
              </a:rPr>
              <a:t>Сравнение с опубликованными бейзлайнами MedMNIST v2</a:t>
            </a:r>
            <a:endParaRPr sz="2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340000" y="6372000"/>
            <a:ext cx="72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52514E"/>
                </a:solidFill>
                <a:latin typeface="Calibri" panose="020F0502020204030204"/>
              </a:rPr>
              <a:t>12</a:t>
            </a:r>
            <a:endParaRPr sz="1100" b="0">
              <a:solidFill>
                <a:srgbClr val="52514E"/>
              </a:solidFill>
              <a:latin typeface="Calibri" panose="020F0502020204030204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0000" y="1296000"/>
          <a:ext cx="10980000" cy="23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0"/>
                <a:gridCol w="1620000"/>
                <a:gridCol w="2520000"/>
                <a:gridCol w="2520000"/>
              </a:tblGrid>
              <a:tr h="46800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Метод</a:t>
                      </a:r>
                      <a:endParaRPr sz="180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1C3D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Разрешение</a:t>
                      </a:r>
                      <a:endParaRPr sz="180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1C3D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Pneumonia AUC / ACC</a:t>
                      </a:r>
                      <a:endParaRPr sz="180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1C3D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Derma AUC / ACC</a:t>
                      </a:r>
                      <a:endParaRPr sz="180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1C3D6B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ResNet-18 (Yang et al., 2023)</a:t>
                      </a:r>
                      <a:endParaRPr sz="18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28</a:t>
                      </a:r>
                      <a:endParaRPr sz="18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0,944 / 0,854</a:t>
                      </a:r>
                      <a:endParaRPr sz="18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0,917 / 0,735</a:t>
                      </a:r>
                      <a:endParaRPr sz="18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1F4F9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ResNet-18 (Yang et al., 2023)</a:t>
                      </a:r>
                      <a:endParaRPr sz="18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224</a:t>
                      </a:r>
                      <a:endParaRPr sz="18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0,956 / 0,864</a:t>
                      </a:r>
                      <a:endParaRPr sz="18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0,920 / 0,754</a:t>
                      </a:r>
                      <a:endParaRPr sz="18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Google AutoML Vision (Yang et al., 2023)</a:t>
                      </a:r>
                      <a:endParaRPr sz="18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28</a:t>
                      </a:r>
                      <a:endParaRPr sz="18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0,991 / 0,946</a:t>
                      </a:r>
                      <a:endParaRPr sz="18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0,914 / 0,768</a:t>
                      </a:r>
                      <a:endParaRPr sz="18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1F4F9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ResNet-18 (TL), наша работа</a:t>
                      </a:r>
                      <a:endParaRPr sz="1800" b="1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64</a:t>
                      </a:r>
                      <a:endParaRPr sz="1800" b="1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0.990 / 0.955</a:t>
                      </a:r>
                      <a:endParaRPr sz="1800" b="1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0.958 / 0.838</a:t>
                      </a:r>
                      <a:endParaRPr sz="1800" b="1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0000" y="4140000"/>
            <a:ext cx="108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52514E"/>
                </a:solidFill>
                <a:latin typeface="Calibri" panose="020F0502020204030204"/>
              </a:rPr>
              <a:t>Результат выше ResNet-бейзлайнов статьи; сравнение ориентировочное: другие рецепты обучения и один seed.</a:t>
            </a:r>
            <a:endParaRPr sz="1700" b="0">
              <a:solidFill>
                <a:srgbClr val="52514E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936000"/>
          </a:xfrm>
          <a:prstGeom prst="rect">
            <a:avLst/>
          </a:prstGeom>
          <a:solidFill>
            <a:srgbClr val="1C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44000"/>
            <a:ext cx="10800000" cy="64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 panose="020F0502020204030204"/>
              </a:rPr>
              <a:t>Ответы на исследовательские вопросы</a:t>
            </a:r>
            <a:endParaRPr sz="2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340000" y="6372000"/>
            <a:ext cx="72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52514E"/>
                </a:solidFill>
                <a:latin typeface="Calibri" panose="020F0502020204030204"/>
              </a:rPr>
              <a:t>13</a:t>
            </a:r>
            <a:endParaRPr sz="1100" b="0">
              <a:solidFill>
                <a:srgbClr val="52514E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8000" y="1296000"/>
            <a:ext cx="10800000" cy="5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100">
                <a:solidFill>
                  <a:srgbClr val="EB6834"/>
                </a:solidFill>
              </a:rPr>
              <a:t>•  </a:t>
            </a:r>
            <a:r>
              <a:rPr sz="2100" b="1">
                <a:solidFill>
                  <a:srgbClr val="1A1A1A"/>
                </a:solidFill>
                <a:latin typeface="Calibri" panose="020F0502020204030204"/>
              </a:rPr>
              <a:t>RQ1:</a:t>
            </a:r>
            <a:r>
              <a:rPr sz="2100" b="0">
                <a:solidFill>
                  <a:srgbClr val="1A1A1A"/>
                </a:solidFill>
                <a:latin typeface="Calibri" panose="020F0502020204030204"/>
              </a:rPr>
              <a:t> CNN значительно лучше: ΔAUC +0.07 (рентген) и +0.14 (кожа).</a:t>
            </a:r>
            <a:endParaRPr sz="2100" b="0">
              <a:solidFill>
                <a:srgbClr val="1A1A1A"/>
              </a:solidFill>
              <a:latin typeface="Calibri" panose="020F0502020204030204"/>
            </a:endParaRPr>
          </a:p>
          <a:p>
            <a:pPr>
              <a:spcAft>
                <a:spcPts val="1000"/>
              </a:spcAft>
            </a:pPr>
            <a:r>
              <a:rPr sz="2100">
                <a:solidFill>
                  <a:srgbClr val="EB6834"/>
                </a:solidFill>
              </a:rPr>
              <a:t>•  </a:t>
            </a:r>
            <a:r>
              <a:rPr sz="2100" b="1">
                <a:solidFill>
                  <a:srgbClr val="1A1A1A"/>
                </a:solidFill>
                <a:latin typeface="Calibri" panose="020F0502020204030204"/>
              </a:rPr>
              <a:t>RQ2:</a:t>
            </a:r>
            <a:r>
              <a:rPr sz="2100" b="0">
                <a:solidFill>
                  <a:srgbClr val="1A1A1A"/>
                </a:solidFill>
                <a:latin typeface="Calibri" panose="020F0502020204030204"/>
              </a:rPr>
              <a:t> претрейн улучшил все метрики, особенно на несбалансированной задаче, и вдвое ускорил сходимость.</a:t>
            </a:r>
            <a:endParaRPr sz="2100" b="0">
              <a:solidFill>
                <a:srgbClr val="1A1A1A"/>
              </a:solidFill>
              <a:latin typeface="Calibri" panose="020F0502020204030204"/>
            </a:endParaRPr>
          </a:p>
          <a:p>
            <a:pPr>
              <a:spcAft>
                <a:spcPts val="1000"/>
              </a:spcAft>
            </a:pPr>
            <a:r>
              <a:rPr sz="2100">
                <a:solidFill>
                  <a:srgbClr val="EB6834"/>
                </a:solidFill>
              </a:rPr>
              <a:t>•  </a:t>
            </a:r>
            <a:r>
              <a:rPr sz="2100" b="1">
                <a:solidFill>
                  <a:srgbClr val="1A1A1A"/>
                </a:solidFill>
                <a:latin typeface="Calibri" panose="020F0502020204030204"/>
              </a:rPr>
              <a:t>RQ3:</a:t>
            </a:r>
            <a:r>
              <a:rPr sz="2100" b="0">
                <a:solidFill>
                  <a:srgbClr val="1A1A1A"/>
                </a:solidFill>
                <a:latin typeface="Calibri" panose="020F0502020204030204"/>
              </a:rPr>
              <a:t> дисбаланс главное ограничение; accuracy завышает качество, редкие злокачественные классы страдают.</a:t>
            </a:r>
            <a:endParaRPr sz="2100" b="0">
              <a:solidFill>
                <a:srgbClr val="1A1A1A"/>
              </a:solidFill>
              <a:latin typeface="Calibri" panose="020F0502020204030204"/>
            </a:endParaRPr>
          </a:p>
          <a:p>
            <a:pPr>
              <a:spcAft>
                <a:spcPts val="1000"/>
              </a:spcAft>
            </a:pPr>
            <a:r>
              <a:rPr sz="2100">
                <a:solidFill>
                  <a:srgbClr val="EB6834"/>
                </a:solidFill>
              </a:rPr>
              <a:t>•  </a:t>
            </a:r>
            <a:r>
              <a:rPr sz="2100" b="1">
                <a:solidFill>
                  <a:srgbClr val="1A1A1A"/>
                </a:solidFill>
                <a:latin typeface="Calibri" panose="020F0502020204030204"/>
              </a:rPr>
              <a:t>RQ4:</a:t>
            </a:r>
            <a:r>
              <a:rPr sz="2100" b="0">
                <a:solidFill>
                  <a:srgbClr val="1A1A1A"/>
                </a:solidFill>
                <a:latin typeface="Calibri" panose="020F0502020204030204"/>
              </a:rPr>
              <a:t> калибровка приемлема, но порог не переносится между источниками данных.</a:t>
            </a:r>
            <a:endParaRPr sz="2100" b="0">
              <a:solidFill>
                <a:srgbClr val="1A1A1A"/>
              </a:solidFill>
              <a:latin typeface="Calibri" panose="020F0502020204030204"/>
            </a:endParaRPr>
          </a:p>
          <a:p>
            <a:pPr>
              <a:spcAft>
                <a:spcPts val="1000"/>
              </a:spcAft>
            </a:pPr>
            <a:r>
              <a:rPr sz="2100">
                <a:solidFill>
                  <a:srgbClr val="EB6834"/>
                </a:solidFill>
              </a:rPr>
              <a:t>•  </a:t>
            </a:r>
            <a:r>
              <a:rPr sz="2100" b="1">
                <a:solidFill>
                  <a:srgbClr val="1A1A1A"/>
                </a:solidFill>
                <a:latin typeface="Calibri" panose="020F0502020204030204"/>
              </a:rPr>
              <a:t>RQ5:</a:t>
            </a:r>
            <a:r>
              <a:rPr sz="2100" b="0">
                <a:solidFill>
                  <a:srgbClr val="1A1A1A"/>
                </a:solidFill>
                <a:latin typeface="Calibri" panose="020F0502020204030204"/>
              </a:rPr>
              <a:t> внимание на рентгене диффузное; высокая точность на одноцентровом бенчмарке не доказывает корректность рассуждений.</a:t>
            </a:r>
            <a:endParaRPr sz="2100" b="0">
              <a:solidFill>
                <a:srgbClr val="1A1A1A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936000"/>
          </a:xfrm>
          <a:prstGeom prst="rect">
            <a:avLst/>
          </a:prstGeom>
          <a:solidFill>
            <a:srgbClr val="1C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44000"/>
            <a:ext cx="10800000" cy="64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 panose="020F0502020204030204"/>
              </a:rPr>
              <a:t>Рекомендации</a:t>
            </a:r>
            <a:endParaRPr sz="2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340000" y="6372000"/>
            <a:ext cx="72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52514E"/>
                </a:solidFill>
                <a:latin typeface="Calibri" panose="020F0502020204030204"/>
              </a:rPr>
              <a:t>14</a:t>
            </a:r>
            <a:endParaRPr sz="1100" b="0">
              <a:solidFill>
                <a:srgbClr val="52514E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0000" y="1116000"/>
            <a:ext cx="5400000" cy="46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EB6834"/>
                </a:solidFill>
                <a:latin typeface="Calibri" panose="020F0502020204030204"/>
              </a:rPr>
              <a:t>Краткосрочно (0–12 мес.)</a:t>
            </a:r>
            <a:endParaRPr sz="2200" b="1">
              <a:solidFill>
                <a:srgbClr val="EB6834"/>
              </a:solidFill>
              <a:latin typeface="Calibri" panose="020F05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0000" y="1655999"/>
            <a:ext cx="5400000" cy="4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EB6834"/>
                </a:solidFill>
              </a:rPr>
              <a:t>•  </a:t>
            </a:r>
            <a:r>
              <a:rPr sz="1700" b="0">
                <a:solidFill>
                  <a:srgbClr val="1A1A1A"/>
                </a:solidFill>
                <a:latin typeface="Calibri" panose="020F0502020204030204"/>
              </a:rPr>
              <a:t>Transfer learning по умолчанию; отчёт по balanced acc., sens/spec, CI</a:t>
            </a:r>
            <a:endParaRPr sz="1700" b="0">
              <a:solidFill>
                <a:srgbClr val="1A1A1A"/>
              </a:solidFill>
              <a:latin typeface="Calibri" panose="020F0502020204030204"/>
            </a:endParaRP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EB6834"/>
                </a:solidFill>
              </a:rPr>
              <a:t>•  </a:t>
            </a:r>
            <a:r>
              <a:rPr sz="1700" b="0">
                <a:solidFill>
                  <a:srgbClr val="1A1A1A"/>
                </a:solidFill>
                <a:latin typeface="Calibri" panose="020F0502020204030204"/>
              </a:rPr>
              <a:t>Порог выбирать под цель (sens ≥ 95%) на выборке целевой клиники</a:t>
            </a:r>
            <a:endParaRPr sz="1700" b="0">
              <a:solidFill>
                <a:srgbClr val="1A1A1A"/>
              </a:solidFill>
              <a:latin typeface="Calibri" panose="020F0502020204030204"/>
            </a:endParaRP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EB6834"/>
                </a:solidFill>
              </a:rPr>
              <a:t>•  </a:t>
            </a:r>
            <a:r>
              <a:rPr sz="1700" b="0">
                <a:solidFill>
                  <a:srgbClr val="1A1A1A"/>
                </a:solidFill>
                <a:latin typeface="Calibri" panose="020F0502020204030204"/>
              </a:rPr>
              <a:t>Калибровка (temperature scaling), иерархический выход «злокач./доброкач.»</a:t>
            </a:r>
            <a:endParaRPr sz="1700" b="0">
              <a:solidFill>
                <a:srgbClr val="1A1A1A"/>
              </a:solidFill>
              <a:latin typeface="Calibri" panose="020F0502020204030204"/>
            </a:endParaRP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EB6834"/>
                </a:solidFill>
              </a:rPr>
              <a:t>•  </a:t>
            </a:r>
            <a:r>
              <a:rPr sz="1700" b="0">
                <a:solidFill>
                  <a:srgbClr val="1A1A1A"/>
                </a:solidFill>
                <a:latin typeface="Calibri" panose="020F0502020204030204"/>
              </a:rPr>
              <a:t>Разрешение 224 px, более сильные модели, регулярная проверка Grad-CAM</a:t>
            </a:r>
            <a:endParaRPr sz="1700" b="0">
              <a:solidFill>
                <a:srgbClr val="1A1A1A"/>
              </a:solidFill>
              <a:latin typeface="Calibri" panose="020F0502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80000" y="1116000"/>
            <a:ext cx="5400000" cy="46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EB6834"/>
                </a:solidFill>
                <a:latin typeface="Calibri" panose="020F0502020204030204"/>
              </a:rPr>
              <a:t>Долгосрочно (1–5 лет)</a:t>
            </a:r>
            <a:endParaRPr sz="2200" b="1">
              <a:solidFill>
                <a:srgbClr val="EB6834"/>
              </a:solidFill>
              <a:latin typeface="Calibri" panose="020F050202020403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80000" y="1655999"/>
            <a:ext cx="5400000" cy="4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EB6834"/>
                </a:solidFill>
              </a:rPr>
              <a:t>•  </a:t>
            </a:r>
            <a:r>
              <a:rPr sz="1700" b="0">
                <a:solidFill>
                  <a:srgbClr val="1A1A1A"/>
                </a:solidFill>
                <a:latin typeface="Calibri" panose="020F0502020204030204"/>
              </a:rPr>
              <a:t>Многоцентровой казахстанский датасет с разметкой несколькими экспертами</a:t>
            </a:r>
            <a:endParaRPr sz="1700" b="0">
              <a:solidFill>
                <a:srgbClr val="1A1A1A"/>
              </a:solidFill>
              <a:latin typeface="Calibri" panose="020F0502020204030204"/>
            </a:endParaRP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EB6834"/>
                </a:solidFill>
              </a:rPr>
              <a:t>•  </a:t>
            </a:r>
            <a:r>
              <a:rPr sz="1700" b="0">
                <a:solidFill>
                  <a:srgbClr val="1A1A1A"/>
                </a:solidFill>
                <a:latin typeface="Calibri" panose="020F0502020204030204"/>
              </a:rPr>
              <a:t>Внешняя и проспективная валидация: silent mode → reader study</a:t>
            </a:r>
            <a:endParaRPr sz="1700" b="0">
              <a:solidFill>
                <a:srgbClr val="1A1A1A"/>
              </a:solidFill>
              <a:latin typeface="Calibri" panose="020F0502020204030204"/>
            </a:endParaRP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EB6834"/>
                </a:solidFill>
              </a:rPr>
              <a:t>•  </a:t>
            </a:r>
            <a:r>
              <a:rPr sz="1700" b="0">
                <a:solidFill>
                  <a:srgbClr val="1A1A1A"/>
                </a:solidFill>
                <a:latin typeface="Calibri" panose="020F0502020204030204"/>
              </a:rPr>
              <a:t>ИИ как инструмент triage и second reader, решение за врачом</a:t>
            </a:r>
            <a:endParaRPr sz="1700" b="0">
              <a:solidFill>
                <a:srgbClr val="1A1A1A"/>
              </a:solidFill>
              <a:latin typeface="Calibri" panose="020F0502020204030204"/>
            </a:endParaRP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EB6834"/>
                </a:solidFill>
              </a:rPr>
              <a:t>•  </a:t>
            </a:r>
            <a:r>
              <a:rPr sz="1700" b="0">
                <a:solidFill>
                  <a:srgbClr val="1A1A1A"/>
                </a:solidFill>
                <a:latin typeface="Calibri" panose="020F0502020204030204"/>
              </a:rPr>
              <a:t>Сертификация ПО как медизделия (по аналогии с EU AI Act), мониторинг дрейфа</a:t>
            </a:r>
            <a:endParaRPr sz="1700" b="0">
              <a:solidFill>
                <a:srgbClr val="1A1A1A"/>
              </a:solidFill>
              <a:latin typeface="Calibri" panose="020F0502020204030204"/>
            </a:endParaRP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EB6834"/>
                </a:solidFill>
              </a:rPr>
              <a:t>•  </a:t>
            </a:r>
            <a:r>
              <a:rPr sz="1700" b="0">
                <a:solidFill>
                  <a:srgbClr val="1A1A1A"/>
                </a:solidFill>
                <a:latin typeface="Calibri" panose="020F0502020204030204"/>
              </a:rPr>
              <a:t>PACS, GPU в регионах, обучение врачей</a:t>
            </a:r>
            <a:endParaRPr sz="1700" b="0">
              <a:solidFill>
                <a:srgbClr val="1A1A1A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936000"/>
          </a:xfrm>
          <a:prstGeom prst="rect">
            <a:avLst/>
          </a:prstGeom>
          <a:solidFill>
            <a:srgbClr val="1C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44000"/>
            <a:ext cx="10800000" cy="64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 panose="020F0502020204030204"/>
              </a:rPr>
              <a:t>Заключение</a:t>
            </a:r>
            <a:endParaRPr sz="2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340000" y="6372000"/>
            <a:ext cx="72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52514E"/>
                </a:solidFill>
                <a:latin typeface="Calibri" panose="020F0502020204030204"/>
              </a:rPr>
              <a:t>15</a:t>
            </a:r>
            <a:endParaRPr sz="1100" b="0">
              <a:solidFill>
                <a:srgbClr val="52514E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8000" y="1296000"/>
            <a:ext cx="10800000" cy="5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EB6834"/>
                </a:solidFill>
              </a:rPr>
              <a:t>•  </a:t>
            </a:r>
            <a:r>
              <a:rPr sz="2200" b="0">
                <a:solidFill>
                  <a:srgbClr val="1A1A1A"/>
                </a:solidFill>
                <a:latin typeface="Calibri" panose="020F0502020204030204"/>
              </a:rPr>
              <a:t>ResNet-18 с претрейном: AUC </a:t>
            </a:r>
            <a:r>
              <a:rPr sz="2200" b="1">
                <a:solidFill>
                  <a:srgbClr val="1A1A1A"/>
                </a:solidFill>
                <a:latin typeface="Calibri" panose="020F0502020204030204"/>
              </a:rPr>
              <a:t>0.990</a:t>
            </a:r>
            <a:r>
              <a:rPr sz="2200" b="0">
                <a:solidFill>
                  <a:srgbClr val="1A1A1A"/>
                </a:solidFill>
                <a:latin typeface="Calibri" panose="020F0502020204030204"/>
              </a:rPr>
              <a:t> (пневмония) и </a:t>
            </a:r>
            <a:r>
              <a:rPr sz="2200" b="1">
                <a:solidFill>
                  <a:srgbClr val="1A1A1A"/>
                </a:solidFill>
                <a:latin typeface="Calibri" panose="020F0502020204030204"/>
              </a:rPr>
              <a:t>0.958</a:t>
            </a:r>
            <a:r>
              <a:rPr sz="2200" b="0">
                <a:solidFill>
                  <a:srgbClr val="1A1A1A"/>
                </a:solidFill>
                <a:latin typeface="Calibri" panose="020F0502020204030204"/>
              </a:rPr>
              <a:t> (7 классов кожи).</a:t>
            </a:r>
            <a:endParaRPr sz="2200" b="0">
              <a:solidFill>
                <a:srgbClr val="1A1A1A"/>
              </a:solidFill>
              <a:latin typeface="Calibri" panose="020F0502020204030204"/>
            </a:endParaRP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EB6834"/>
                </a:solidFill>
              </a:rPr>
              <a:t>•  </a:t>
            </a:r>
            <a:r>
              <a:rPr sz="2200" b="0">
                <a:solidFill>
                  <a:srgbClr val="1A1A1A"/>
                </a:solidFill>
                <a:latin typeface="Calibri" panose="020F0502020204030204"/>
              </a:rPr>
              <a:t>Ограничения: низкое разрешение, один центр, один seed, ретроспективная оценка.</a:t>
            </a:r>
            <a:endParaRPr sz="2200" b="0">
              <a:solidFill>
                <a:srgbClr val="1A1A1A"/>
              </a:solidFill>
              <a:latin typeface="Calibri" panose="020F0502020204030204"/>
            </a:endParaRP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EB6834"/>
                </a:solidFill>
              </a:rPr>
              <a:t>•  </a:t>
            </a:r>
            <a:r>
              <a:rPr sz="2200" b="0">
                <a:solidFill>
                  <a:srgbClr val="1A1A1A"/>
                </a:solidFill>
                <a:latin typeface="Calibri" panose="020F0502020204030204"/>
              </a:rPr>
              <a:t>Высокий AUC соседствует с </a:t>
            </a:r>
            <a:r>
              <a:rPr sz="2200" b="1">
                <a:solidFill>
                  <a:srgbClr val="1A1A1A"/>
                </a:solidFill>
                <a:latin typeface="Calibri" panose="020F0502020204030204"/>
              </a:rPr>
              <a:t>21% пропущенных меланом</a:t>
            </a:r>
            <a:r>
              <a:rPr sz="2200" b="0">
                <a:solidFill>
                  <a:srgbClr val="1A1A1A"/>
                </a:solidFill>
                <a:latin typeface="Calibri" panose="020F0502020204030204"/>
              </a:rPr>
              <a:t>, нестабильным порогом и сомнительным вниманием модели.</a:t>
            </a:r>
            <a:endParaRPr sz="2200" b="0">
              <a:solidFill>
                <a:srgbClr val="1A1A1A"/>
              </a:solidFill>
              <a:latin typeface="Calibri" panose="020F0502020204030204"/>
            </a:endParaRP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EB6834"/>
                </a:solidFill>
              </a:rPr>
              <a:t>•  </a:t>
            </a:r>
            <a:r>
              <a:rPr sz="2200" b="0">
                <a:solidFill>
                  <a:srgbClr val="1A1A1A"/>
                </a:solidFill>
                <a:latin typeface="Calibri" panose="020F0502020204030204"/>
              </a:rPr>
              <a:t>Безопасное внедрение зависит не столько от роста точности, сколько от </a:t>
            </a:r>
            <a:r>
              <a:rPr sz="2200" b="1">
                <a:solidFill>
                  <a:srgbClr val="1A1A1A"/>
                </a:solidFill>
                <a:latin typeface="Calibri" panose="020F0502020204030204"/>
              </a:rPr>
              <a:t>локальных данных, выбора порога, калибровки, внешней валидации и контроля врача</a:t>
            </a:r>
            <a:r>
              <a:rPr sz="2200" b="0">
                <a:solidFill>
                  <a:srgbClr val="1A1A1A"/>
                </a:solidFill>
                <a:latin typeface="Calibri" panose="020F0502020204030204"/>
              </a:rPr>
              <a:t>.</a:t>
            </a:r>
            <a:endParaRPr sz="2200" b="0">
              <a:solidFill>
                <a:srgbClr val="1A1A1A"/>
              </a:solidFill>
              <a:latin typeface="Calibri" panose="020F0502020204030204"/>
            </a:endParaRP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EB6834"/>
                </a:solidFill>
              </a:rPr>
              <a:t>•  </a:t>
            </a:r>
            <a:r>
              <a:rPr sz="2200" b="0">
                <a:solidFill>
                  <a:srgbClr val="1A1A1A"/>
                </a:solidFill>
                <a:latin typeface="Calibri" panose="020F0502020204030204"/>
              </a:rPr>
              <a:t>Код и статья: воспроизводимы (`run_experiments.py`, `build_report.py`).</a:t>
            </a:r>
            <a:endParaRPr sz="2200" b="0">
              <a:solidFill>
                <a:srgbClr val="1A1A1A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6101</Words>
  <Application>WPS Presentation</Application>
  <PresentationFormat>On-screen Show (4:3)</PresentationFormat>
  <Paragraphs>277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3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Ne Pacan</cp:lastModifiedBy>
  <cp:revision>3</cp:revision>
  <dcterms:created xsi:type="dcterms:W3CDTF">2013-01-27T09:14:00Z</dcterms:created>
  <dcterms:modified xsi:type="dcterms:W3CDTF">2026-10-29T14:51:46Z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1049-12.1.0.29162</vt:lpwstr>
  </property>
  <property fmtid="{D5CDD505-2E9C-101B-9397-08002B2CF9AE}" pid="3" name="ICV">
    <vt:lpwstr>62A70307221643D78241BC17495B89C5_12</vt:lpwstr>
  </property>
</Properties>
</file>